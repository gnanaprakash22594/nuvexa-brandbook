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/sessions/intelligent-pensive-johnson/mnt/outputs/deck_assets/logo-gro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457200"/>
            <a:ext cx="237744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TRANSFORMATION PARTNER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000"/>
              </a:lnSpc>
              <a:buNone/>
            </a:pPr>
            <a:r>
              <a:rPr lang="en-US" sz="6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campus.</a:t>
            </a:r>
            <a:endParaRPr lang="en-US" sz="6000" dirty="0"/>
          </a:p>
          <a:p>
            <a:pPr indent="0" marL="0">
              <a:lnSpc>
                <a:spcPts val="7000"/>
              </a:lnSpc>
              <a:buNone/>
            </a:pPr>
            <a:r>
              <a:rPr lang="en-US" sz="6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once. Built right.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5074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accountable partner for the design, build, fit-out, and certification of your campus.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one contract. On a date your academic calendar can rely 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6126480"/>
            <a:ext cx="10972800" cy="27432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</a:t>
            </a:r>
            <a:pPr indent="0" marL="0">
              <a:buNone/>
            </a:pPr>
            <a:r>
              <a:rPr lang="en-US" sz="1200" spc="200" kern="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pPr indent="0" marL="0">
              <a:buNone/>
            </a:pPr>
            <a:r>
              <a:rPr lang="en-US" sz="1200" spc="2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2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</a:t>
            </a:r>
            <a:pPr indent="0" marL="0">
              <a:buNone/>
            </a:pPr>
            <a:r>
              <a:rPr lang="en-US" sz="1200" spc="200" kern="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handovers</a:t>
            </a:r>
            <a:pPr indent="0" marL="0">
              <a:buNone/>
            </a:pPr>
            <a:r>
              <a:rPr lang="en-US" sz="1200" spc="2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2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10L+ sq.ft </a:t>
            </a:r>
            <a:pPr indent="0" marL="0">
              <a:buNone/>
            </a:pPr>
            <a:r>
              <a:rPr lang="en-US" sz="1200" spc="200" kern="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BUILT NUVEXA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building a campus that has to open on a date,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for you.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35661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42976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institution. Every slipped quarter is a real-money loss and a real-trust loss with parents you've already pitched.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834640"/>
            <a:ext cx="35661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0060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00600" y="42976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to a board that signed a budget and a community that paid its admission fee. You need a partner who can be held to the date.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834640"/>
            <a:ext cx="35661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4108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4108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41080" y="42976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to the budget and the academic calendar. You need a single line item, a single P&amp;L exposure, and a single phone number.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campus projects get built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bad relay race.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1494391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8896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566160"/>
            <a:ext cx="14943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07623" y="3566160"/>
            <a:ext cx="1494391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889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07623" y="3566160"/>
            <a:ext cx="14943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75166" y="3566160"/>
            <a:ext cx="1494391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889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5166" y="3566160"/>
            <a:ext cx="14943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42709" y="3566160"/>
            <a:ext cx="1494391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889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2709" y="3566160"/>
            <a:ext cx="14943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10251" y="3566160"/>
            <a:ext cx="1494391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889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0251" y="3566160"/>
            <a:ext cx="14943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77794" y="3566160"/>
            <a:ext cx="1494391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8896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7794" y="3566160"/>
            <a:ext cx="14943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45337" y="3566160"/>
            <a:ext cx="1494391" cy="640080"/>
          </a:xfrm>
          <a:prstGeom prst="rect">
            <a:avLst/>
          </a:prstGeom>
          <a:solidFill>
            <a:srgbClr val="894029"/>
          </a:solidFill>
          <a:ln w="9525">
            <a:solidFill>
              <a:srgbClr val="8940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45337" y="3566160"/>
            <a:ext cx="14943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...×30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 30 vendors across architecture, civil, MEP, finishes, fit-out, and certification. Each with their own timeline. Each with their own excuses.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someone hands over the keys, the founder has aged 18 months and the academic calendar has slipped twice.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VENDOR SPRAWL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up in three places.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hit the academic calendar.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356616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campus projects exceed budget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440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construction reports.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2926080"/>
            <a:ext cx="356616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4480560" y="4572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timeline overrun on multi-vendor builds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5440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across every handoff.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2926080"/>
            <a:ext cx="356616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8321040" y="4572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founder-felt slip when handover dates miss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5440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missed admission cycles.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manage vendors.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</a:t>
            </a:r>
            <a:pPr indent="0" marL="0">
              <a:buNone/>
            </a:pPr>
            <a:r>
              <a:rPr lang="en-US" sz="5600" b="1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vendor.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3566160" cy="1783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4297680"/>
            <a:ext cx="356616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contract.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soil testing to occupancy certificate. One agreement, one signature, one P&amp;L 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4297680"/>
            <a:ext cx="3566160" cy="1783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4297680"/>
            <a:ext cx="356616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PM.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manager owns every milestone. No relay race. No vendor blame. One number to call.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4297680"/>
            <a:ext cx="3566160" cy="1783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4297680"/>
            <a:ext cx="356616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delivery date.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9536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academic calendar. Locked in writing. The team that quotes is the team that builds.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services. Three buckets. One contract.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engage on whatever stage you need. Most institutions sign for end-to-end.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560320"/>
            <a:ext cx="3566160" cy="14630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&amp; Turnkey Delivery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planning &amp; designing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project execution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&amp; interior integration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Façade design &amp; turnkey solutions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56032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560320"/>
            <a:ext cx="3566160" cy="146304"/>
          </a:xfrm>
          <a:prstGeom prst="rect">
            <a:avLst/>
          </a:prstGeom>
          <a:solidFill>
            <a:srgbClr val="045E53"/>
          </a:solidFill>
          <a:ln w="12700">
            <a:solidFill>
              <a:srgbClr val="045E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3108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Renovation, Repair &amp; Upgrade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00600" y="41605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renovation &amp; refurbishment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repairs &amp; renovations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hygiene &amp; compliance upgrades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experience upgrades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256032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560320"/>
            <a:ext cx="3566160" cy="146304"/>
          </a:xfrm>
          <a:prstGeom prst="rect">
            <a:avLst/>
          </a:prstGeom>
          <a:solidFill>
            <a:srgbClr val="894029"/>
          </a:solidFill>
          <a:ln w="12700">
            <a:solidFill>
              <a:srgbClr val="8940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41080" y="3108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Diagnostics, Audit &amp; Advisory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41080" y="41605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&amp; reports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certificates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&amp; pain-point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stages. One accountability.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2128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86000"/>
            <a:ext cx="2212848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Site, soil, statutory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every constraint before we draw a line. Compliance audit and budget reality check.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2286000"/>
            <a:ext cx="22128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2286000"/>
            <a:ext cx="2212848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743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108960" y="3429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 MEP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3794760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Pre-certified-feasible drawings. Approvals designed in, not chased after.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2286000"/>
            <a:ext cx="22128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0" y="2286000"/>
            <a:ext cx="2212848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743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394960" y="3429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crews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3794760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Civil, structural, finishes. No subcontractor relay race. Weekly site reports with photos.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2286000"/>
            <a:ext cx="22128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0" y="2286000"/>
            <a:ext cx="2212848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80960" y="2743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Fit-Out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680960" y="3429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Furniture, AV, labs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3794760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Day-one operational. Furniture, signage, labs, libraries, sports, landscaping.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84080" y="2286000"/>
            <a:ext cx="22128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84080" y="2286000"/>
            <a:ext cx="2212848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966960" y="2743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966960" y="3429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+ paperwork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66960" y="3794760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Drawings, certificates, warranties. Bundled and signed off. On the date in your contract.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durations vary by scope. A typical K-12 phase-1 (6 to 8 acres, ~1.5L sq.ft) lands in 14 to 18 months end to end.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INSTITUTIONS SIGN WITH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 project manager.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principal contractor.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394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743200"/>
            <a:ext cx="54864" cy="160020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contract. One accountability.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blame games. No "that wasn't in scope." If something goes wrong, you have one phone number to call.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743200"/>
            <a:ext cx="5394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743200"/>
            <a:ext cx="54864" cy="160020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Date-locked delivery.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3429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handover date is written into the contract and built around your admission cycle. We design the schedule around the date, not around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5394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526280"/>
            <a:ext cx="54864" cy="160020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crews.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outsource. We don't subcontract trades. The team that quotes you is the team that builds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526280"/>
            <a:ext cx="5394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4526280"/>
            <a:ext cx="54864" cy="160020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Compliance-first design.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drawing is pre-certified-feasible. We don't design things that won't pass approvals. That's why our handovers don't slip waiting on NOCs.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DEPTH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projects of construction depth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every campus we build.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is the campus-transformation arm of SGB Group. The institutional, commercial, and infrastructure construction history behind us is the reason we can ship a campus on the date in the contract. It is also the reason we can absorb the surprises that derail single-discipline contractors.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52120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is the focused application of that depth to one buyer: educational institutions that cannot afford to slip.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06640" y="2743200"/>
            <a:ext cx="4114800" cy="3474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0" y="2743200"/>
            <a:ext cx="4114800" cy="109728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3063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10L+ sq.ft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+ commercial + infrastructure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5166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years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0" y="5715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execution depth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schools. Three handovers. Zero delays.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campus delivered end-to-end under a single contract. Every founder opened admissions on the planned date.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5661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68880"/>
            <a:ext cx="3566160" cy="1097280"/>
          </a:xfrm>
          <a:prstGeom prst="rect">
            <a:avLst/>
          </a:prstGeom>
          <a:solidFill>
            <a:srgbClr val="045E53"/>
          </a:solidFill>
          <a:ln w="12700">
            <a:solidFill>
              <a:srgbClr val="045E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PHOTO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 ·  CBSE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Ridge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School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1.4L sq.ft  ·  60 classrooms  ·  Phase 1 ahead of contract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5029200"/>
            <a:ext cx="3017520" cy="0"/>
          </a:xfrm>
          <a:prstGeom prst="line">
            <a:avLst/>
          </a:prstGeom>
          <a:noFill/>
          <a:ln w="6350">
            <a:solidFill>
              <a:srgbClr val="C5A0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"Phase 1 handed over four weeks ahead of contract. Admissions opened on the planned date."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989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Trustee, Western Ridge International School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2468880"/>
            <a:ext cx="35661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2468880"/>
            <a:ext cx="3566160" cy="1097280"/>
          </a:xfrm>
          <a:prstGeom prst="rect">
            <a:avLst/>
          </a:prstGeom>
          <a:solidFill>
            <a:srgbClr val="045E53"/>
          </a:solidFill>
          <a:ln w="12700">
            <a:solidFill>
              <a:srgbClr val="045E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PHOTO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 ·  ICSE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Two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[Confidential School]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5488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85K sq.ft  ·  40 classrooms  ·  Delivered on date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5029200"/>
            <a:ext cx="3017520" cy="0"/>
          </a:xfrm>
          <a:prstGeom prst="line">
            <a:avLst/>
          </a:prstGeom>
          <a:noFill/>
          <a:ln w="6350">
            <a:solidFill>
              <a:srgbClr val="C5A0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"Single contract. Single delivery date. The exact thing we couldn't get from our previous firm."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5989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Confidential School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21040" y="2468880"/>
            <a:ext cx="35661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21040" y="2468880"/>
            <a:ext cx="3566160" cy="1097280"/>
          </a:xfrm>
          <a:prstGeom prst="rect">
            <a:avLst/>
          </a:prstGeom>
          <a:solidFill>
            <a:srgbClr val="045E53"/>
          </a:solidFill>
          <a:ln w="12700">
            <a:solidFill>
              <a:srgbClr val="045E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PHOTO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 ·  IB-track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95360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Three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[Confidential School]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59536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65K sq.ft  ·  30 classrooms  ·  On-time + within budget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5029200"/>
            <a:ext cx="3017520" cy="0"/>
          </a:xfrm>
          <a:prstGeom prst="line">
            <a:avLst/>
          </a:prstGeom>
          <a:noFill/>
          <a:ln w="6350">
            <a:solidFill>
              <a:srgbClr val="C5A0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built around the academic calendar, not the calendar around them. That changed everything."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0" y="5989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Principal, Confidential School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contract beats vendor sprawl.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line item that matters.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5A0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5A0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Multi-Vendor Sprawl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5A0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Nuvexa Single Contract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to 30 vendors, no single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PM, one contract, one phone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Compounding handoffs, monthly slip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date, locked in writing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discovery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Surprises mid-project, change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at quote, change requests pre-approved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Approvals &amp; NOCs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Chased after design, blocks handover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Designed-in upfront, runs parallel to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Outsourced trades, inconsistent finish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crews, single quality bar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AN ENGAGEMENT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Nuvexa engagement actually looks like.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project size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2194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₹15Cr or 50,000 sq.ft. Below this, the single-contract model doesn't deliver enough cost or time advantage.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971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phase-1 (6 to 8 acres, ~1.5L sq.ft) lands in 14 to 18 months. Larger campuses scale linearly.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749040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749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only. We have not exported the compliance + crew model outside India.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526280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526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contract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4526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fit-out, certify. Soil testing through occupancy certificate.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303520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303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5303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acquisition. Government statutory fees. IT hardware procurement. (We recommend partners on these.)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45-min discovery call beats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6-month proposal cycle.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5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us your site plan, your timeline, your budget. We'll walk through it with you in 45 minutes. We'll tell you what's possible, what's risky, and what'll cost you.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i="1" dirty="0">
                <a:solidFill>
                  <a:srgbClr val="89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deck. No pitch. If we're not the right partner for your project, we'll tell you who 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212080"/>
            <a:ext cx="4023360" cy="777240"/>
          </a:xfrm>
          <a:prstGeom prst="rect">
            <a:avLst/>
          </a:prstGeom>
          <a:solidFill>
            <a:srgbClr val="894029"/>
          </a:solidFill>
          <a:ln w="12700">
            <a:solidFill>
              <a:srgbClr val="89402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5212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45-min discovery call  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5212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hello@nuvexa.in   ·   +91 XXXXX XXXXX   ·   nuvexa.in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NUVEXA  ·  A Division of SGB Group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pic>
        <p:nvPicPr>
          <p:cNvPr id="4" name="Image 0" descr="/sessions/intelligent-pensive-johnson/mnt/outputs/deck_assets/logo-gro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1260" y="2011680"/>
            <a:ext cx="173900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once. Built right.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hello@nuvexa.in    ·    +91 XXXXX XXXXX    ·    nuvexa.in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E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Nuvexa, A Division of SGB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Nuvexa Sales Deck</dc:title>
  <dc:subject>PptxGenJS Presentation</dc:subject>
  <dc:creator>Nuvexa</dc:creator>
  <cp:lastModifiedBy>Nuvexa</cp:lastModifiedBy>
  <cp:revision>1</cp:revision>
  <dcterms:created xsi:type="dcterms:W3CDTF">2026-04-29T18:45:39Z</dcterms:created>
  <dcterms:modified xsi:type="dcterms:W3CDTF">2026-04-29T18:45:39Z</dcterms:modified>
</cp:coreProperties>
</file>